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AC00B5C-5194-8697-EFCD-AADAECB1B115}" v="109" dt="2026-05-18T20:28:14.5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56DE9A-8BD3-49AF-BCEF-7974A05D1831}" type="datetimeFigureOut">
              <a:t>5/18/2026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32676F-45BA-4B86-BB28-C1B09C61F37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8188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274320"/>
            <a:ext cx="2286000" cy="228600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474720"/>
            <a:ext cx="1645920" cy="1645920"/>
          </a:xfrm>
          <a:prstGeom prst="ellipse">
            <a:avLst/>
          </a:prstGeom>
          <a:solidFill>
            <a:srgbClr val="E9C46A">
              <a:alpha val="15000"/>
            </a:srgbClr>
          </a:solidFill>
          <a:ln w="12700">
            <a:solidFill>
              <a:srgbClr val="E9C46A">
                <a:alpha val="15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274320"/>
            <a:ext cx="8229600" cy="320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9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PROGRAMMING FOR ARTIFICIAL INTELLIGENCE — PROJECT 2</a:t>
            </a:r>
            <a:endParaRPr lang="en-US" sz="900">
              <a:latin typeface="Calibri"/>
              <a:ea typeface="Calibri"/>
              <a:cs typeface="Calibri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143000"/>
            <a:ext cx="7772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Urdu Fake &amp;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Biased News Detector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365760" y="3063240"/>
            <a:ext cx="41148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324612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Text-based classification using Naive Bayes, ANN &amp; CNN — built from scratch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70857" y="4617126"/>
            <a:ext cx="3866903" cy="22919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l">
              <a:buNone/>
            </a:pPr>
            <a:endParaRPr lang="en-US" sz="1100" dirty="0">
              <a:solidFill>
                <a:srgbClr val="90E0EF"/>
              </a:solidFill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Urdu Fake News Detection?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560320" cy="15544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258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230M+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speakers worldwide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(Top 10 globally)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1056310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6440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548644" y="1239190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digital resources &amp; datasets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80760" y="1093421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90488" y="1371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🔤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52854" y="1276301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morphology — words have many forms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154680" y="2374768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6440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3548644" y="257249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Code-switching: Urdu + English mixed text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2374768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90488" y="2697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52854" y="2572492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Right-to-left script requirements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154680" y="3611583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🖼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719352" y="3787041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Multimodal manipulation with images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036228" y="3611583"/>
            <a:ext cx="2743200" cy="109728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0488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🗂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4101" y="3787041"/>
            <a:ext cx="2057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spans politics, health, religion…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6177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English, Urdu remains severely under-resourced for NLP — with no widely available labelled fake news dataset.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Has Been Done So Far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8412480" cy="384048"/>
          </a:xfrm>
          <a:prstGeom prst="rect">
            <a:avLst/>
          </a:prstGeom>
          <a:solidFill>
            <a:srgbClr val="E9C46A">
              <a:alpha val="8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234440"/>
            <a:ext cx="548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1234440"/>
            <a:ext cx="1371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514600" y="1234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720840" y="123444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572768"/>
            <a:ext cx="8412480" cy="59436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61848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161848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Naveed et al.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161848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 2 fine-tuned (LoRA) on Hook &amp; Bait Urdu dataset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720840" y="1618488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97.8%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231136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276856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51560" y="2276856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Shafiq et al.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514600" y="227685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Ensemble: ELECTRA + mBERT + XLM-RoBERTa (majority vote)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20840" y="2276856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91.4%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2889504"/>
            <a:ext cx="8412480" cy="59436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2935224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51560" y="2935224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Lohano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514600" y="293522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DistilmBERT — fast, low-resource transformer fine-tuning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20840" y="2935224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89.0%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65760" y="3547872"/>
            <a:ext cx="8412480" cy="594360"/>
          </a:xfrm>
          <a:prstGeom prst="rect">
            <a:avLst/>
          </a:prstGeom>
          <a:solidFill>
            <a:srgbClr val="0D1B2A"/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3593592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51560" y="3593592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Reports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514600" y="359359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XLM-RoBERTa + concatenated GloVe (15 domains)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3593592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96.2%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65760" y="4572000"/>
            <a:ext cx="8412480" cy="411480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617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Gap: We use raw, self-collected data + add bias detection — neither addressed in existing work.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Georgia"/>
                <a:ea typeface="Georgia" pitchFamily="34" charset="-122"/>
                <a:cs typeface="Georgia" pitchFamily="34" charset="-120"/>
              </a:rPr>
              <a:t>1000+ Self-Collected Urdu News Articles</a:t>
            </a:r>
            <a:endParaRPr lang="en-US" sz="2800">
              <a:latin typeface="Georgia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651760" cy="169164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65176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6D6A0"/>
                </a:solidFill>
                <a:latin typeface="Georgia"/>
              </a:rPr>
              <a:t>400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 حقیقی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2128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Jang, Geo News,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 News, UrduPoint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169164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EF476F"/>
                </a:solidFill>
                <a:latin typeface="Georgia"/>
              </a:rPr>
              <a:t>350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333756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 جعلی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2128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Extremist pages, deepfakes,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doctored audio recordings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26480" y="1188720"/>
            <a:ext cx="2651760" cy="169164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188720"/>
            <a:ext cx="265176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1280160"/>
            <a:ext cx="2468880" cy="594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F4A261"/>
                </a:solidFill>
                <a:latin typeface="Georgia"/>
              </a:rPr>
              <a:t>350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217920" y="18745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BIASED  متعصبانہ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17920" y="2212848"/>
            <a:ext cx="2468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Nawa-i-Waqt, Daily Ausaf,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Waqt News, Daily Khabrain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883923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Distribution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65760" y="330282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94560" y="3304546"/>
            <a:ext cx="1521562" cy="16459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15053" y="3265714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65760" y="347377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194560" y="3505180"/>
            <a:ext cx="1141171" cy="164592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34662" y="3503458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366698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Religion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94560" y="3705814"/>
            <a:ext cx="950976" cy="16459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18688" y="3704092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65760" y="3867615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194560" y="3906447"/>
            <a:ext cx="950976" cy="16459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144467" y="3875037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5760" y="4075671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Crime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201982" y="4107081"/>
            <a:ext cx="760781" cy="164592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91383" y="4105359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65760" y="427630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201982" y="4307715"/>
            <a:ext cx="760781" cy="164592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991383" y="4313413"/>
            <a:ext cx="553687" cy="1789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" y="447693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94560" y="4508348"/>
            <a:ext cx="3423514" cy="164592"/>
          </a:xfrm>
          <a:prstGeom prst="rect">
            <a:avLst/>
          </a:prstGeom>
          <a:solidFill>
            <a:srgbClr val="7B68EE"/>
          </a:solidFill>
          <a:ln w="12700">
            <a:solidFill>
              <a:srgbClr val="7B68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17005" y="4506626"/>
            <a:ext cx="457200" cy="20116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900">
                <a:solidFill>
                  <a:srgbClr val="90E0EF"/>
                </a:solidFill>
                <a:latin typeface="Calibri"/>
                <a:ea typeface="Calibri"/>
                <a:cs typeface="Calibri"/>
              </a:rPr>
              <a:t>100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794760" y="4784569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from live Urdu news sources using BeautifulSoup &amp; Selenium — no preprocessing at collection stage.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Pipeline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132588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0100" y="128016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01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1148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preprocess.py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Urdu text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stopwords &amp; noise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1700784" y="1801368"/>
            <a:ext cx="73152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8308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83080" y="1188720"/>
            <a:ext cx="132588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17420" y="1280160"/>
            <a:ext cx="457200" cy="457200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21742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82880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features.py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vocabulary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+ Embeddings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118104" y="1801368"/>
            <a:ext cx="73152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1188720"/>
            <a:ext cx="132588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34740" y="128016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474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4612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naive_bayes.py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24612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Log-space Multinomial NB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Laplace smoothing (α grid)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35424" y="1801368"/>
            <a:ext cx="73152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1772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17720" y="1188720"/>
            <a:ext cx="132588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52060" y="1280160"/>
            <a:ext cx="457200" cy="45720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5206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66344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ann.py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66344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Dense(128)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Dense(64) → Output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952744" y="1801368"/>
            <a:ext cx="73152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1188720"/>
            <a:ext cx="1325880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69380" y="1280160"/>
            <a:ext cx="457200" cy="457200"/>
          </a:xfrm>
          <a:prstGeom prst="ellipse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6938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08076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cnn.py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8076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Conv1D(128) → MaxPool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Dense(64) → Output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370064" y="1801368"/>
            <a:ext cx="73152" cy="54864"/>
          </a:xfrm>
          <a:prstGeom prst="rect">
            <a:avLst/>
          </a:prstGeom>
          <a:solidFill>
            <a:srgbClr val="00B4D8">
              <a:alpha val="60000"/>
            </a:srgbClr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52360" y="1188720"/>
            <a:ext cx="132588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52360" y="1188720"/>
            <a:ext cx="1325880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886700" y="1280160"/>
            <a:ext cx="457200" cy="457200"/>
          </a:xfrm>
          <a:prstGeom prst="ellipse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8867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7498080" y="1783080"/>
            <a:ext cx="1234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compare.py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498080" y="2103120"/>
            <a:ext cx="1234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+ F1 charts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selection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365760" y="2606040"/>
            <a:ext cx="8412480" cy="59436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2920" y="269748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Split: 70% Train  ·  10% Validation  ·  20% Test   |   All metrics computed from scratch (no scikit-learn)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3337560"/>
            <a:ext cx="8412480" cy="155448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>
                <a:alpha val="5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3429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Preprocessing Example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" y="3749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"حکومت نے نیا قانون پاس کیا ہے!!!"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02920" y="4069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Remove stopwords · Normalize Alef (آ→ا) · Normalize Yeh (ي→ی) · Remove diacritics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0292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"حکومت نیا قانون پاس کیا"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 — From Scratch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91440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188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Formula (Log Space — avoids underflow)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" y="1463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P(c | x)  ∝  log P(c)  +  x · log P(w | c)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65760" y="224028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240280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Prior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26243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P(c) = log(class count / total samples)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once at training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709160" y="224028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6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09160" y="224028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Likelihood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26243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P(w|c) with Laplace smoothing: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word_counts + α / (total + α × V)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61188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>
                <a:alpha val="6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3611880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685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Tuning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" y="39959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over α: {0.01, 0.1, 0.5, 1.0, 2.0, 5.0}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chosen by validation accuracy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09160" y="361188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9160" y="3611880"/>
            <a:ext cx="64008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685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3995928"/>
            <a:ext cx="3840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over log-posteriors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 trained on train + val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Implementation: 100% NumPy — no scikit-learn, no sklearn imports anywhere in the codebase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Artificial Neural Network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141732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234440"/>
            <a:ext cx="141732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856232" y="1691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39112" y="1234440"/>
            <a:ext cx="141732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39112" y="1234440"/>
            <a:ext cx="1417320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84832" y="14630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300-dim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83864" y="169164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666744" y="1234440"/>
            <a:ext cx="1417320" cy="137160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66744" y="1234440"/>
            <a:ext cx="141732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12464" y="1463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+ 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30%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111496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294376" y="1234440"/>
            <a:ext cx="1417320" cy="137160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94376" y="1234440"/>
            <a:ext cx="141732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0096" y="1463040"/>
            <a:ext cx="1325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+ ReLU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30%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739128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922008" y="1234440"/>
            <a:ext cx="1417320" cy="128016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22008" y="1234440"/>
            <a:ext cx="1417320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1463040"/>
            <a:ext cx="1325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Configuration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108960"/>
            <a:ext cx="64008" cy="548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Size: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46304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samples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00400" y="3108960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>
                <a:alpha val="5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108960"/>
            <a:ext cx="64008" cy="5486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29768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SGD + Momentum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35040" y="3108960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035040" y="3108960"/>
            <a:ext cx="64008" cy="548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72200" y="3154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Init: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132320" y="315468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Initialization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3767328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3767328"/>
            <a:ext cx="64008" cy="54864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2920" y="3813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Stop: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463040" y="3813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epoch patience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200400" y="3767328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3767328"/>
            <a:ext cx="64008" cy="54864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337560" y="3813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Dropout: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297680" y="3813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(both layers)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35040" y="3767328"/>
            <a:ext cx="265176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48CAE4">
                <a:alpha val="5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035040" y="3767328"/>
            <a:ext cx="64008" cy="5486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172200" y="3813048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Loss: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132320" y="3813048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Cross-Entropy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weights automatically restored after training — model uses the epoch with highest validation accuracy.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Neural Network (1D CNN)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1298448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(200 words)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645920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173736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188720"/>
            <a:ext cx="1298448" cy="4572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300-dim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(learned)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063240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315468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54680" y="1188720"/>
            <a:ext cx="1298448" cy="4572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Conv1D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= 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480560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57200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188720"/>
            <a:ext cx="1298448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(best match)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97880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598932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89320" y="1188720"/>
            <a:ext cx="1298448" cy="4572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3504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+ ReLU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315200" y="1737360"/>
            <a:ext cx="201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7406640" y="1188720"/>
            <a:ext cx="1298448" cy="141732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406640" y="1188720"/>
            <a:ext cx="1298448" cy="4572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52360" y="1417320"/>
            <a:ext cx="120700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classes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760" y="2788920"/>
            <a:ext cx="8412480" cy="73152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Conv1D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12724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5-word sliding window scans each article. 128 filters simultaneously look for 128 different suspicious phrases — regardless of their position in the text.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65760" y="36393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 of Patterns the Filters Learn: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3977640"/>
            <a:ext cx="2651760" cy="82296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023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#1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270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"افواہ" + "پھیل"  → FAKE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200400" y="3977640"/>
            <a:ext cx="2651760" cy="82296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>
                <a:alpha val="6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291840" y="4023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#2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91840" y="4270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"حکومت" + "اعلان"  → REAL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035040" y="3977640"/>
            <a:ext cx="2651760" cy="82296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>
                <a:alpha val="6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26480" y="4023360"/>
            <a:ext cx="24688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#3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126480" y="4270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"مخالف" + "الزام"  → BIASED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365760" y="482803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parameters: ~277K  |  Same training setup as ANN: early stopping, dropout, He init, momentum SGD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Comparison &amp; Expected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2743200" cy="219456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188720"/>
            <a:ext cx="2743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38912" y="1298448"/>
            <a:ext cx="822960" cy="256032"/>
          </a:xfrm>
          <a:prstGeom prst="rect">
            <a:avLst/>
          </a:prstGeom>
          <a:solidFill>
            <a:srgbClr val="06D6A0">
              <a:alpha val="5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60–68%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457200" y="2633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07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fast, TF-IDF features,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independence assumption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46120" y="1188720"/>
            <a:ext cx="2743200" cy="219456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6120" y="1188720"/>
            <a:ext cx="274320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19272" y="1298448"/>
            <a:ext cx="822960" cy="256032"/>
          </a:xfrm>
          <a:prstGeom prst="rect">
            <a:avLst/>
          </a:prstGeom>
          <a:solidFill>
            <a:srgbClr val="F4A261">
              <a:alpha val="50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19272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33756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337560" y="19933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68–75%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3337560" y="2633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2907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Learns word relationships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dense layers + embeddings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188720"/>
            <a:ext cx="2743200" cy="219456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188720"/>
            <a:ext cx="2743200" cy="6400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99632" y="1298448"/>
            <a:ext cx="822960" cy="256032"/>
          </a:xfrm>
          <a:prstGeom prst="rect">
            <a:avLst/>
          </a:prstGeom>
          <a:solidFill>
            <a:srgbClr val="EF476F">
              <a:alpha val="50000"/>
            </a:srgbClr>
          </a:solidFill>
          <a:ln w="12700">
            <a:solidFill>
              <a:srgbClr val="EF476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99632" y="1298448"/>
            <a:ext cx="822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17920" y="16002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217920" y="1993392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EF476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70–78%</a:t>
            </a:r>
            <a:endParaRPr lang="en-US" sz="3800" dirty="0"/>
          </a:p>
        </p:txBody>
      </p:sp>
      <p:sp>
        <p:nvSpPr>
          <p:cNvPr id="27" name="Text 25"/>
          <p:cNvSpPr/>
          <p:nvPr/>
        </p:nvSpPr>
        <p:spPr>
          <a:xfrm>
            <a:off x="6217920" y="26334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17920" y="29077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at finding patterns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anywhere in text (Conv1D)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3566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 (All Computed From Scratch)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950208"/>
            <a:ext cx="1591056" cy="7772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5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397764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11480" y="42702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/ Total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048256" y="3950208"/>
            <a:ext cx="1591056" cy="77724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>
                <a:alpha val="5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93976" y="397764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093976" y="42702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FP)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730752" y="3950208"/>
            <a:ext cx="1591056" cy="77724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>
                <a:alpha val="5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776472" y="397764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776472" y="42702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 / (TP + FN)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13248" y="3950208"/>
            <a:ext cx="1591056" cy="77724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>
                <a:alpha val="5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58968" y="397764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58968" y="42702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2×P×R / (P+R)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7095744" y="3950208"/>
            <a:ext cx="1591056" cy="777240"/>
          </a:xfrm>
          <a:prstGeom prst="rect">
            <a:avLst/>
          </a:prstGeom>
          <a:solidFill>
            <a:srgbClr val="1B263B"/>
          </a:solidFill>
          <a:ln w="12700">
            <a:solidFill>
              <a:srgbClr val="EF476F">
                <a:alpha val="5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141464" y="3977640"/>
            <a:ext cx="149961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141464" y="4270248"/>
            <a:ext cx="1499616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breakdown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365760" y="479145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compare.py outputs: accuracy + F1 bar chart, ANN &amp; CNN training curves, and best model identification.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-731520"/>
            <a:ext cx="3200400" cy="32004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2286000" cy="2286000"/>
          </a:xfrm>
          <a:prstGeom prst="ellipse">
            <a:avLst/>
          </a:prstGeom>
          <a:solidFill>
            <a:srgbClr val="E9C46A">
              <a:alpha val="12000"/>
            </a:srgbClr>
          </a:solidFill>
          <a:ln w="12700">
            <a:solidFill>
              <a:srgbClr val="E9C46A">
                <a:alpha val="12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65760" y="123444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>
                <a:alpha val="7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234440"/>
            <a:ext cx="64008" cy="11430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2893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05840" y="1307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Collection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16550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2,500 articles scraped from live Urdu sources using BeautifulSoup &amp; Selenium — not preprocessed public datasets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709160" y="123444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E9C46A">
                <a:alpha val="7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1234440"/>
            <a:ext cx="64008" cy="11430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0" y="12893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9C46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349240" y="13075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Detection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46320" y="16550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Three-class classification (Real / Fake / Biased) — going beyond binary fake/real detection found in prior work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65760" y="260604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06D6A0">
                <a:alpha val="7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606040"/>
            <a:ext cx="64008" cy="11430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6609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D6A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005840" y="2679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From-Scratch Implementation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0266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Bayes, ANN, CNN, and all evaluation metrics (Accuracy, Precision, Recall, F1) implemented without scikit-learn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2606040"/>
            <a:ext cx="4114800" cy="1143000"/>
          </a:xfrm>
          <a:prstGeom prst="rect">
            <a:avLst/>
          </a:prstGeom>
          <a:solidFill>
            <a:srgbClr val="1B263B"/>
          </a:solidFill>
          <a:ln w="12700">
            <a:solidFill>
              <a:srgbClr val="F4A261">
                <a:alpha val="7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606040"/>
            <a:ext cx="64008" cy="11430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660904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349240" y="2679192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NLP Pipeline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46320" y="3026664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0E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normalizer for Arabic/Urdu character variants, 75+ stopwords, and right-to-left script handling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4434840"/>
            <a:ext cx="8412480" cy="548640"/>
          </a:xfrm>
          <a:prstGeom prst="rect">
            <a:avLst/>
          </a:prstGeom>
          <a:solidFill>
            <a:srgbClr val="1B263B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Samia Imran  ·          </a:t>
            </a:r>
            <a:r>
              <a:rPr lang="en-US" sz="1200" dirty="0" err="1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Unzila</a:t>
            </a:r>
            <a:r>
              <a:rPr lang="en-US" sz="1200" dirty="0">
                <a:solidFill>
                  <a:srgbClr val="E0E0E0"/>
                </a:solidFill>
                <a:latin typeface="Calibri"/>
                <a:ea typeface="Calibri"/>
                <a:cs typeface="Calibri"/>
              </a:rPr>
              <a:t> Ahsan  ·          Mehreen Iqbal  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Urdu Fake/Biased News Detector</dc:title>
  <dc:subject>PptxGenJS Presentation</dc:subject>
  <dc:creator>Samia Imran, Unzila Ahsan, Mehreen Iqbal</dc:creator>
  <cp:lastModifiedBy>Samia Imran, Unzila Ahsan, Mehreen Iqbal</cp:lastModifiedBy>
  <cp:revision>62</cp:revision>
  <dcterms:created xsi:type="dcterms:W3CDTF">2026-05-18T20:05:51Z</dcterms:created>
  <dcterms:modified xsi:type="dcterms:W3CDTF">2026-05-18T20:28:36Z</dcterms:modified>
</cp:coreProperties>
</file>